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417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Step Up"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2148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B.Tech Graduate Internship — Project Report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8680" y="2788920"/>
            <a:ext cx="292608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017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Dust &amp; Defect Detection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Camera Module Quality Inspection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53492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Kumar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(Software Engineering), Delhi Technological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Samsung India Electronics — Camera Module Quality Inspection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235440" y="5486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Report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2801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pic>
        <p:nvPicPr>
          <p:cNvPr id="8" name="Image 1" descr="icon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4990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12801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2801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309360" y="12801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pic>
        <p:nvPicPr>
          <p:cNvPr id="12" name="Image 2" descr="icon_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4990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0960" y="12801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02920" y="258775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40080" y="2587752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pic>
        <p:nvPicPr>
          <p:cNvPr id="16" name="Image 3" descr="icon_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857500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11680" y="2587752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Methodology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172200" y="258775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309360" y="2587752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pic>
        <p:nvPicPr>
          <p:cNvPr id="20" name="Image 4" descr="icon_tas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857500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80960" y="2587752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02920" y="389534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40080" y="3895344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pic>
        <p:nvPicPr>
          <p:cNvPr id="24" name="Image 5" descr="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165092"/>
            <a:ext cx="512064" cy="5120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011680" y="3895344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Results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6172200" y="389534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6309360" y="3895344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pic>
        <p:nvPicPr>
          <p:cNvPr id="28" name="Image 6" descr="icon_pl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4165092"/>
            <a:ext cx="512064" cy="5120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80960" y="3895344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502920" y="5202936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640080" y="5202936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pic>
        <p:nvPicPr>
          <p:cNvPr id="32" name="Image 7" descr="icon_warn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5472684"/>
            <a:ext cx="512064" cy="51206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011680" y="5202936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6172200" y="5202936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5" name="Text 25"/>
          <p:cNvSpPr/>
          <p:nvPr/>
        </p:nvSpPr>
        <p:spPr>
          <a:xfrm>
            <a:off x="6309360" y="5202936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600" dirty="0"/>
          </a:p>
        </p:txBody>
      </p:sp>
      <p:pic>
        <p:nvPicPr>
          <p:cNvPr id="36" name="Image 8" descr="icon_rock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0" y="5472684"/>
            <a:ext cx="512064" cy="51206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680960" y="5202936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2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Background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14300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rear camera modules are optically inspected on the production line before assembly. Even microscopic contamination on the lens or sensor path — dust, glue residue, or stray fibre/thread — can cause visible defects in the final camera output, so every module must be screened at high throughput.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200400"/>
            <a:ext cx="60350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 it?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inspection is slow, subjective, and fatigue-prone at high line speeds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features are sub-pixel to a few pixels wide — hard for the eye to catch consistently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needs an objective, repeatable pass/fail (OK/NG) verdict per module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903720" y="1143000"/>
            <a:ext cx="4754880" cy="512064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78040" y="1325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</a:rPr>
              <a:t>Inspection Setup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178040" y="18745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pic>
        <p:nvPicPr>
          <p:cNvPr id="13" name="Image 1" descr="icon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9751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1828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Basler industrial camera captures the module under controlled lighting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24928" y="2377440"/>
            <a:ext cx="0" cy="50292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7178040" y="2926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pic>
        <p:nvPicPr>
          <p:cNvPr id="17" name="Image 2" descr="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302666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8120" y="28803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of Interest (ROI) isolated on the lens/sensor surface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424928" y="3429000"/>
            <a:ext cx="0" cy="50292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7178040" y="3977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pic>
        <p:nvPicPr>
          <p:cNvPr id="21" name="Image 3" descr="icon_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40782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3931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based image processing flags anomalies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424928" y="4480560"/>
            <a:ext cx="0" cy="50292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7178040" y="502920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pic>
        <p:nvPicPr>
          <p:cNvPr id="25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5129784"/>
            <a:ext cx="301752" cy="3017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18120" y="4983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assigns a PASS / FAIL verdict automatically, logged with barcode for traceability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508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28A0"/>
          </a:solidFill>
          <a:ln/>
        </p:spPr>
      </p:sp>
      <p:pic>
        <p:nvPicPr>
          <p:cNvPr id="8" name="Image 1" descr="icon_bullsey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63677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4904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Dust Detection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1945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dust contamination on camera modules with a validated, explainable local Z-score algorithm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1792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1508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28A0"/>
          </a:solidFill>
          <a:ln/>
        </p:spPr>
      </p:sp>
      <p:pic>
        <p:nvPicPr>
          <p:cNvPr id="13" name="Image 2" descr="icon_co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6367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4904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Operator-Safe Tool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2240" y="21945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a read-only Operator window and a separate Teaching window, so line use can never accidentally edit ROIs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703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977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28A0"/>
          </a:solidFill>
          <a:ln/>
        </p:spPr>
      </p:sp>
      <p:pic>
        <p:nvPicPr>
          <p:cNvPr id="18" name="Image 3" descr="icon_lay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1056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9593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&amp; Scalable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77240" y="46634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savable ROI layouts per model/line, loaded and activated from Teaching — not a single hard-coded setup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17920" y="3703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3977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28A0"/>
          </a:solidFill>
          <a:ln/>
        </p:spPr>
      </p:sp>
      <p:pic>
        <p:nvPicPr>
          <p:cNvPr id="23" name="Image 4" descr="icon_clipboar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10565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39593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Verdicts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492240" y="46634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PASS / FAIL per module and persist the source + annotated image and a CSV log for audit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Methodology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detection algorithm: local Z-score anomaly scoring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55448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783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Z(x, y) = </a:t>
            </a:r>
            <a:pPr indent="0" marL="0">
              <a:buNone/>
            </a:pPr>
            <a:r>
              <a:rPr lang="en-US" sz="2000" i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I(x,y) − μ(x,y) |</a:t>
            </a:r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⁄  σ(x,y)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μ, σ = local mean &amp; std-dev from a boxFilter window  •  threshold = 3.0  •  window = 100 px (default, tunable)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pixel's intensity is compared against its local neighbourhood rather than a single global threshold — this keeps detection robust to uneven lighting and lens shading across the module surface. Pixels crossing the Z-score threshold, inside the active ROI(s), form the raw candidate mask.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709160"/>
            <a:ext cx="566928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12" name="Image 1" descr="icon_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937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48920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today: the pipeline detects and flags dust only — it does not yet classify contamination into separate types (e.g. glue residue, thread/fibre). All accepted blobs are reported as one dust count.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6520" y="1097280"/>
            <a:ext cx="521208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20840" y="1280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</a:rPr>
              <a:t>Cleaning up the raw mask (single class: dust)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720840" y="1828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4F6FB"/>
          </a:solidFill>
          <a:ln/>
        </p:spPr>
      </p:sp>
      <p:pic>
        <p:nvPicPr>
          <p:cNvPr id="17" name="Image 2" descr="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60920" y="1801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opening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360920" y="21214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elliptical kernel erases anything thinner than a few px — kills thin curved edge artifacts / arcs and 1–2 px sensor noise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720840" y="2971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4F6FB"/>
          </a:solidFill>
          <a:ln/>
        </p:spPr>
      </p:sp>
      <p:pic>
        <p:nvPicPr>
          <p:cNvPr id="21" name="Image 3" descr="icon_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0632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2944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+ circularity gate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60920" y="32644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cv2.findContours + minEnclosingCircle; blobs below min-area (4 px²) or min-circularity (0.55) are rejected as noise or arc fragments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720840" y="4114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4F6FB"/>
          </a:solidFill>
          <a:ln/>
        </p:spPr>
      </p:sp>
      <p:pic>
        <p:nvPicPr>
          <p:cNvPr id="25" name="Image 4" descr="icon_dot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42062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4087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mm-diameter gate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360920" y="44074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two-point calibrated, diameter_px × mm/px is computed; blobs smaller than the min diameter (mm) are rejected too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720840" y="5257800"/>
            <a:ext cx="466344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720840" y="5394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are ringed in red with their size label (mm if calibrated, else px); any module with ≥1 accepted blob is flagged FAIL.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Done — The Application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 Python desktop app (customtkinter + pypylon + OpenCV), redesigned into two windows to keep operator use foolproof.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19385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9" name="Image 1" descr="icon_camera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Window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04088" y="251460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live feed, status card, barcode entry, and a scrolling inspection log — nothing here is click-editable, by design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29768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98848" y="19385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14" name="Image 2" descr="icon_co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03911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Window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98848" y="251460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Technician-only setup, opened separately: Model/Line naming, ROI + calibration canvas, detection params, camera settings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80924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93608" y="19385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19" name="Image 3" descr="icon_lay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039112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1540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ROI Layouts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293608" y="251460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multi-ROI placement on an interactive canvas (click, drag-pan, wheel-zoom); layouts saved and activated by name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50292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0408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24" name="Image 4" descr="icon_bullsey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233672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 Calibration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04088" y="470916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two points at a known real-world distance; the resulting mm/px scale converts blob size to mm</a:t>
            </a:r>
            <a:endParaRPr lang="en-US" sz="1080" dirty="0"/>
          </a:p>
        </p:txBody>
      </p:sp>
      <p:sp>
        <p:nvSpPr>
          <p:cNvPr id="27" name="Shape 20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9884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29" name="Image 5" descr="icon_microscop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4233672"/>
            <a:ext cx="301752" cy="30175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Image Mode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498848" y="470916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previously captured images into the Teaching canvas to test ROI and detection settings offline</a:t>
            </a:r>
            <a:endParaRPr lang="en-US" sz="1080" dirty="0"/>
          </a:p>
        </p:txBody>
      </p:sp>
      <p:sp>
        <p:nvSpPr>
          <p:cNvPr id="32" name="Shape 24"/>
          <p:cNvSpPr/>
          <p:nvPr/>
        </p:nvSpPr>
        <p:spPr>
          <a:xfrm>
            <a:off x="80924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29360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34" name="Image 6" descr="icon_check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233672"/>
            <a:ext cx="301752" cy="30175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1540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Verdict + Logging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293608" y="470916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assigned automatically per module; source + annotated images and a CSV log are saved</a:t>
            </a:r>
            <a:endParaRPr lang="en-US" sz="1080" dirty="0"/>
          </a:p>
        </p:txBody>
      </p:sp>
      <p:sp>
        <p:nvSpPr>
          <p:cNvPr id="37" name="Text 28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Status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5623560" cy="5029200"/>
          </a:xfrm>
          <a:prstGeom prst="roundRect">
            <a:avLst>
              <a:gd name="adj" fmla="val 1455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2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Z-score dust detection (threshold 3.0, window 100) in production-usable form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2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mask cleaned with morphological opening + area/circularity gates to reject arcs and noise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2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Two-window split shipped: read-only Operator view + interactive Teaching view for setup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2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PASS/FAIL verdict, barcode logging, and Open-Image mode for offline review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4617720"/>
            <a:ext cx="5074920" cy="0"/>
          </a:xfrm>
          <a:prstGeom prst="line">
            <a:avLst/>
          </a:prstGeom>
          <a:noFill/>
          <a:ln w="12700">
            <a:solidFill>
              <a:srgbClr val="C9D2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5166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dust is detected today — glue-residue and thread/fibre are not yet classified separately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support is Basler-only via pypylon; no alternate/synthetic source if hardware is absent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118872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1325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492240" y="1965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category detected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75320" y="118872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75320" y="1325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100px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366760" y="1965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window (default)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149840" y="118872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149840" y="1325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0241280" y="1965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threshold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0" y="2880360"/>
            <a:ext cx="52120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7512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</a:rPr>
              <a:t>Detection history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675120" y="3474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Z-score formula went through several regressions before settling on this externally-validated version, refined against real dust/glue/thread samples on the line.</a:t>
            </a:r>
            <a:endParaRPr lang="en-US" sz="1200" dirty="0"/>
          </a:p>
        </p:txBody>
      </p:sp>
      <p:pic>
        <p:nvPicPr>
          <p:cNvPr id="24" name="Image 1" descr="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70916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78040" y="470916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carried through every iteration: the app must always support loading images from disk, not only the live feed.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7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the path to running this on the live inspection line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38100">
            <a:solidFill>
              <a:srgbClr val="D5DA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834640"/>
            <a:ext cx="645795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</p:spPr>
      </p:sp>
      <p:pic>
        <p:nvPicPr>
          <p:cNvPr id="10" name="Image 1" descr="icon_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7157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-457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-4572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R&amp;D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-6858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858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detection formula researched, tuned, and validated (threshold 3.0, window 31)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329641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</p:spPr>
      </p:sp>
      <p:pic>
        <p:nvPicPr>
          <p:cNvPr id="16" name="Image 2" descr="icon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27157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3746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53746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251460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65176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Two-window desktop tool built: read-only Operator view, Teaching setup, ROI/calibration, auto verdict + logging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587959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F6C00"/>
            </a:solidFill>
            <a:prstDash val="solid"/>
          </a:ln>
        </p:spPr>
      </p:sp>
      <p:pic>
        <p:nvPicPr>
          <p:cNvPr id="22" name="Image 3" descr="icon_warn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71576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064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12064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Validation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09778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F6C0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23494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tool against real modules offline; tuning area/circularity gates against arc and noise false positives</a:t>
            </a:r>
            <a:endParaRPr lang="en-US" sz="1080" dirty="0"/>
          </a:p>
        </p:txBody>
      </p:sp>
      <p:sp>
        <p:nvSpPr>
          <p:cNvPr id="27" name="Shape 21"/>
          <p:cNvSpPr/>
          <p:nvPr/>
        </p:nvSpPr>
        <p:spPr>
          <a:xfrm>
            <a:off x="846277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8C0D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590788" y="2761488"/>
            <a:ext cx="146304" cy="146304"/>
          </a:xfrm>
          <a:prstGeom prst="ellipse">
            <a:avLst/>
          </a:prstGeom>
          <a:solidFill>
            <a:srgbClr val="B8C0DA"/>
          </a:solidFill>
          <a:ln/>
        </p:spPr>
      </p:sp>
      <p:sp>
        <p:nvSpPr>
          <p:cNvPr id="29" name="Text 23"/>
          <p:cNvSpPr/>
          <p:nvPr/>
        </p:nvSpPr>
        <p:spPr>
          <a:xfrm>
            <a:off x="77038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70382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Integration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768096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81812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validated pipeline into the live inspection-line workflow alongside operators</a:t>
            </a:r>
            <a:endParaRPr lang="en-US" sz="1080" dirty="0"/>
          </a:p>
        </p:txBody>
      </p:sp>
      <p:sp>
        <p:nvSpPr>
          <p:cNvPr id="33" name="Shape 27"/>
          <p:cNvSpPr/>
          <p:nvPr/>
        </p:nvSpPr>
        <p:spPr>
          <a:xfrm>
            <a:off x="1104595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8C0D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1173968" y="2761488"/>
            <a:ext cx="146304" cy="146304"/>
          </a:xfrm>
          <a:prstGeom prst="ellipse">
            <a:avLst/>
          </a:prstGeom>
          <a:solidFill>
            <a:srgbClr val="B8C0DA"/>
          </a:solidFill>
          <a:ln/>
        </p:spPr>
      </p:sp>
      <p:sp>
        <p:nvSpPr>
          <p:cNvPr id="35" name="Text 29"/>
          <p:cNvSpPr/>
          <p:nvPr/>
        </p:nvSpPr>
        <p:spPr>
          <a:xfrm>
            <a:off x="1028700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028700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Rollout</a:t>
            </a:r>
            <a:endParaRPr lang="en-US" sz="1350" dirty="0"/>
          </a:p>
        </p:txBody>
      </p:sp>
      <p:sp>
        <p:nvSpPr>
          <p:cNvPr id="37" name="Shape 31"/>
          <p:cNvSpPr/>
          <p:nvPr/>
        </p:nvSpPr>
        <p:spPr>
          <a:xfrm>
            <a:off x="1026414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1040130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per-model configs to additional camera-module variants across lines</a:t>
            </a:r>
            <a:endParaRPr lang="en-US" sz="1080" dirty="0"/>
          </a:p>
        </p:txBody>
      </p:sp>
      <p:sp>
        <p:nvSpPr>
          <p:cNvPr id="39" name="Shape 33"/>
          <p:cNvSpPr/>
          <p:nvPr/>
        </p:nvSpPr>
        <p:spPr>
          <a:xfrm>
            <a:off x="914400" y="598932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4"/>
          <p:cNvSpPr/>
          <p:nvPr/>
        </p:nvSpPr>
        <p:spPr>
          <a:xfrm>
            <a:off x="1143000" y="5916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2423160" y="5989320"/>
            <a:ext cx="164592" cy="164592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42" name="Text 36"/>
          <p:cNvSpPr/>
          <p:nvPr/>
        </p:nvSpPr>
        <p:spPr>
          <a:xfrm>
            <a:off x="2651760" y="5916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4114800" y="5989320"/>
            <a:ext cx="164592" cy="164592"/>
          </a:xfrm>
          <a:prstGeom prst="ellipse">
            <a:avLst/>
          </a:prstGeom>
          <a:solidFill>
            <a:srgbClr val="B8C0DA"/>
          </a:solidFill>
          <a:ln/>
        </p:spPr>
      </p:sp>
      <p:sp>
        <p:nvSpPr>
          <p:cNvPr id="44" name="Text 38"/>
          <p:cNvSpPr/>
          <p:nvPr/>
        </p:nvSpPr>
        <p:spPr>
          <a:xfrm>
            <a:off x="4343400" y="5916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8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0160" y="1645920"/>
            <a:ext cx="9601200" cy="4480560"/>
          </a:xfrm>
          <a:prstGeom prst="roundRect">
            <a:avLst>
              <a:gd name="adj" fmla="val 1633"/>
            </a:avLst>
          </a:prstGeom>
          <a:solidFill>
            <a:srgbClr val="0E1533"/>
          </a:solidFill>
          <a:ln w="19050">
            <a:solidFill>
              <a:srgbClr val="3A4A8A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3383280"/>
            <a:ext cx="1371600" cy="137160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9" name="Image 1" descr="icon_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3730752"/>
            <a:ext cx="676656" cy="676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5120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demo video here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5440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(Operator window inspection flow, plus a look at ROI/calibration setup in the Teaching window)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Learnings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7" name="Image 1" descr="icon_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9047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5389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is a trade-off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77240" y="21031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vs. false positives had to be balanced by hand across threshold, window size, and the area/circularity gates — no single setting worked for every module type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11" name="Image 2" descr="icon_dot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9047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0" y="145389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artifacts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492240" y="21031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curved edges and arc-shaped reflections mimic real dust; a morphological opening plus a circularity gate was needed to filter them out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02920" y="3703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15" name="Image 3" descr="icon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5935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92277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before shipped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777240" y="45720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formula went through multiple regressions before arriving at the current externally-validated Z-score approach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217920" y="3703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19" name="Image 4" descr="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59352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32320" y="392277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 editor was the real bug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6492240" y="45720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stray click on the operator's own feed could silently add or move an ROI — splitting it into a read-only view plus a separate Teaching view fixed it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9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3774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004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Multi-defect classification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388620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dust-only detection to separately classify glue-residue and thread/fibre contamination, not just one combined count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3223260" y="3474720"/>
            <a:ext cx="228600" cy="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3337560" y="13716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2044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15" name="Text 11"/>
          <p:cNvSpPr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6" name="Image 2" descr="icon_micro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23774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32004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false positives further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520440" y="388620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gating beyond the current area/circularity filters for edge and arc-shaped reflections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057900" y="3474720"/>
            <a:ext cx="228600" cy="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6172200" y="13716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22" name="Text 17"/>
          <p:cNvSpPr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3" name="Image 3" descr="icon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237744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55080" y="32004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deployment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355080" y="388620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validated desktop tool towards integration into the live inspection line workflow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8892540" y="3474720"/>
            <a:ext cx="228600" cy="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9006840" y="13716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18972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29" name="Text 23"/>
          <p:cNvSpPr/>
          <p:nvPr/>
        </p:nvSpPr>
        <p:spPr>
          <a:xfrm>
            <a:off x="9189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30" name="Image 4" descr="icon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2377440"/>
            <a:ext cx="640080" cy="6400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89720" y="32004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model coverage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189720" y="388620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named ROI/calibration layouts to additional camera-module variants as they come online</a:t>
            </a:r>
            <a:endParaRPr lang="en-US" sz="1080" dirty="0"/>
          </a:p>
        </p:txBody>
      </p:sp>
      <p:sp>
        <p:nvSpPr>
          <p:cNvPr id="33" name="Text 26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11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3886200"/>
            <a:ext cx="274320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Kumar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Technological University  •  Samsung India Electronics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