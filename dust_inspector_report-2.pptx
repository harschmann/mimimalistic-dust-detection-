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417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Step Up"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2148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B.Tech Graduate Internship — Project Report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8680" y="2788920"/>
            <a:ext cx="292608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017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Dust &amp; Defect Detection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Camera Module Quality Inspection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(Software Engineering), Delhi Technological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Samsung India Electronics — Camera Module Quality Inspection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0" y="5486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Report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2801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1" descr="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4990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1280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2801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309360" y="12801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pic>
        <p:nvPicPr>
          <p:cNvPr id="12" name="Image 2" descr="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4990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0" y="1280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02920" y="258775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40080" y="2587752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pic>
        <p:nvPicPr>
          <p:cNvPr id="16" name="Image 3" descr="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57500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11680" y="258775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172200" y="258775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309360" y="2587752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pic>
        <p:nvPicPr>
          <p:cNvPr id="20" name="Image 4" descr="icon_ta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857500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80960" y="2587752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02920" y="389534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40080" y="3895344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pic>
        <p:nvPicPr>
          <p:cNvPr id="24" name="Image 5" descr="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65092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011680" y="3895344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Results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172200" y="389534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6309360" y="3895344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pic>
        <p:nvPicPr>
          <p:cNvPr id="28" name="Image 6" descr="icon_pl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4165092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3895344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502920" y="520293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40080" y="520293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pic>
        <p:nvPicPr>
          <p:cNvPr id="32" name="Image 7" descr="icon_warn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5472684"/>
            <a:ext cx="512064" cy="51206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011680" y="5202936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6172200" y="520293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6309360" y="5202936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pic>
        <p:nvPicPr>
          <p:cNvPr id="36" name="Image 8" descr="icon_rock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5472684"/>
            <a:ext cx="512064" cy="51206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680960" y="5202936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Text 28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Background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rear camera modules are optically inspected on the production line before assembly. Even microscopic contamination on the lens or sensor path — dust, glue residue, or stray fibre/thread — can cause visible defects in the final camera output, so every module must be screened at high throughput.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60350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it?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is slow, subjective, and fatigue-prone at high line speeds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features are sub-pixel to a few pixels wide — hard for the eye to catch consistently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an objective, repeatable pass/fail (OK/NG) verdict per module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903720" y="1143000"/>
            <a:ext cx="4754880" cy="512064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78040" y="1325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</a:rPr>
              <a:t>Inspection Setup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178040" y="18745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13" name="Image 1" descr="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97510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industrial camera captures the module under controlled lighting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24928" y="237744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178040" y="2926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17" name="Image 2" descr="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30266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2880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of Interest (ROI) isolated on the lens/sensor surface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424928" y="342900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7178040" y="3977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21" name="Image 3" descr="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40782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3931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based image processing flags anomalies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24928" y="4480560"/>
            <a:ext cx="0" cy="50292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7178040" y="50292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28A0"/>
            </a:solidFill>
            <a:prstDash val="solid"/>
          </a:ln>
        </p:spPr>
      </p:sp>
      <p:pic>
        <p:nvPicPr>
          <p:cNvPr id="25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5129784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18120" y="4983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confirms OK / NG verdict, stored for traceability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8" name="Image 1" descr="icon_bullsey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6367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904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Detection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dust, glue-residue, and thread/fibre contamination on camera modules with a validated, explainable algorithm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508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13" name="Image 2" descr="icon_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6367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4904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self-contained desktop application usable directly by line operators — no manual scripting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18" name="Image 3" descr="icon_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056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959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&amp; Scalable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7724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camera models via per-model ROI and calibration configs, not a single hard-coded setup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17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428A0"/>
          </a:solidFill>
          <a:ln/>
        </p:spPr>
      </p:sp>
      <p:pic>
        <p:nvPicPr>
          <p:cNvPr id="23" name="Image 4" descr="icon_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10565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959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Verdicts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92240" y="46634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OK / NG decision with the original and annotated image for audit and rework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Methodology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 algorithm: local Z-score anomaly scoring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5544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Z(x, y) = </a:t>
            </a:r>
            <a:pPr indent="0" marL="0">
              <a:buNone/>
            </a:pPr>
            <a:r>
              <a:rPr lang="en-US" sz="2000" i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I(x,y) − μ(x,y) |</a:t>
            </a:r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⁄  σ(x,y)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 = local mean &amp; std-dev from a boxFilter window  •  threshold = 3.0  •  window = 31 px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pixel's intensity is compared against its local neighbourhood rather than a single global threshold — this keeps detection robust to uneven lighting and lens shading across the module surface. Pixels crossing the Z-score threshold are grouped into candidate blobs for classification.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709160"/>
            <a:ext cx="566928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2" name="Image 1" descr="icon_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937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48920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trade-off: with window = 31 px, dust up to ~4 px radius is reliably caught; larger particles need a proportionally larger window — exposed as a tunable slider in the app.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6520" y="1097280"/>
            <a:ext cx="52120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2084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</a:rPr>
              <a:t>Blob classification into 3 categories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720840" y="18288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17" name="Image 2" descr="icon_do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1801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360920" y="212140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circular blobs → red-ring annotation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720840" y="2880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21" name="Image 3" descr="icon_dro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9718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28529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Arc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60920" y="31729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+ aspect-ratio gate, distance-transform stroke width for curved arcs → blue-ring annotation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20840" y="3931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4F6FB"/>
          </a:solidFill>
          <a:ln/>
        </p:spPr>
      </p:sp>
      <p:pic>
        <p:nvPicPr>
          <p:cNvPr id="25" name="Image 4" descr="icon_line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0233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3904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/ Fibre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360920" y="422452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Distance-transform width ≤ 5 px → yellow-ring annotation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720840" y="5029200"/>
            <a:ext cx="466344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720840" y="51663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found via cv2.findContours + minEnclosingCircle; non-dust detections are excluded from the reported dust count.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— The Application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Python desktop app (customtkinter + pypylon + OpenCV) built for direct operator use on the line.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9" name="Image 1" descr="icon_camera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Feed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408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Basler / USB / synthetic-camera fallback; live feed downscaled for display, full-resolution capture used for inspection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29768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9884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14" name="Image 2" descr="icon_lay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039112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Multi-ROI Selection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9884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multi-ROI selector per module region, with per-model ROI configs saved to disk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0924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93608" y="19385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19" name="Image 3" descr="icon_bulls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039112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1540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293608" y="251460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 (and four-method) calibration; physical size measured via max Feret length using the convex hull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5029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0408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24" name="Image 4" descr="icon_microscop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33672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 Mode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0408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previously captured images from disk and run detection / ROI / calibration on them, not just the live feed</a:t>
            </a:r>
            <a:endParaRPr lang="en-US" sz="1080" dirty="0"/>
          </a:p>
        </p:txBody>
      </p:sp>
      <p:sp>
        <p:nvSpPr>
          <p:cNvPr id="27" name="Shape 20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49884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29" name="Image 5" descr="icon_char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233672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Output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49884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blue / yellow ring annotations on both the live display and saved mask files, with a live dust count</a:t>
            </a:r>
            <a:endParaRPr lang="en-US" sz="1080" dirty="0"/>
          </a:p>
        </p:txBody>
      </p:sp>
      <p:sp>
        <p:nvSpPr>
          <p:cNvPr id="32" name="Shape 24"/>
          <p:cNvSpPr/>
          <p:nvPr/>
        </p:nvSpPr>
        <p:spPr>
          <a:xfrm>
            <a:off x="80924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9360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428A0"/>
          </a:solidFill>
          <a:ln/>
        </p:spPr>
      </p:sp>
      <p:pic>
        <p:nvPicPr>
          <p:cNvPr id="34" name="Image 6" descr="icon_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233672"/>
            <a:ext cx="301752" cy="30175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15400" y="4114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NG Workflow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293608" y="470916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can flip the verdict; results stored in a model/original/NG-OK and model/after/NG-OK folder structure</a:t>
            </a:r>
            <a:endParaRPr lang="en-US" sz="1080" dirty="0"/>
          </a:p>
        </p:txBody>
      </p:sp>
      <p:sp>
        <p:nvSpPr>
          <p:cNvPr id="37" name="Text 28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562356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Z-score detection (threshold 3.0, window 31) in production-usable form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defect categories (dust, glue, thread) classified and independently annotated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 workflow: camera enumeration → ROI → calibration → detection → OK/NG storage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2E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Open-Image mode for offline review of previously captured modules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4617720"/>
            <a:ext cx="5074920" cy="0"/>
          </a:xfrm>
          <a:prstGeom prst="line">
            <a:avLst/>
          </a:prstGeom>
          <a:noFill/>
          <a:ln w="12700">
            <a:solidFill>
              <a:srgbClr val="C9D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AR-coating reflections and lens ring/donut artifacts remain persistent false-positive sources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31 px window limits reliable dust detection to ~4 px radius; larger dust needs a larger window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9224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categories detected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7532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31px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36676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window size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149840" y="118872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149840" y="1325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0241280" y="19659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threshold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0" y="2880360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3063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</a:rPr>
              <a:t>Detection history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75120" y="3474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Z-score formula went through several regressions before settling on this externally-validated version, refined against real dust/glue/thread samples on the line.</a:t>
            </a:r>
            <a:endParaRPr lang="en-US" sz="1200" dirty="0"/>
          </a:p>
        </p:txBody>
      </p:sp>
      <p:pic>
        <p:nvPicPr>
          <p:cNvPr id="24" name="Image 1" descr="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70916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78040" y="47091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carried through every iteration: the app must always support loading images from disk, not only the live feed.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the path to running this on the live inspection 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38100">
            <a:solidFill>
              <a:srgbClr val="D5DA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834640"/>
            <a:ext cx="645795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</p:sp>
      <p:pic>
        <p:nvPicPr>
          <p:cNvPr id="10" name="Image 1" descr="icon_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15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-457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-4572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R&amp;D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-6858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858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detection formula researched, tuned, and validated (threshold 3.0, window 31)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329641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</p:sp>
      <p:pic>
        <p:nvPicPr>
          <p:cNvPr id="16" name="Image 2" descr="icon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2715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374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53746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251460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65176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desktop tool built: camera feed, ROI, calibration, 3-category classification, OK/NG storage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87959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6C00"/>
            </a:solidFill>
            <a:prstDash val="solid"/>
          </a:ln>
        </p:spPr>
      </p:sp>
      <p:pic>
        <p:nvPicPr>
          <p:cNvPr id="22" name="Image 3" descr="icon_warn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71576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12064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Validation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09778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23494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tool against real modules offline; tuning against AR-reflection &amp; ring-artifact false positives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846277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C0D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590788" y="2761488"/>
            <a:ext cx="146304" cy="146304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29" name="Text 23"/>
          <p:cNvSpPr/>
          <p:nvPr/>
        </p:nvSpPr>
        <p:spPr>
          <a:xfrm>
            <a:off x="77038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70382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Integration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768096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81812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validated pipeline into the live inspection-line workflow alongside operators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11045952" y="2633472"/>
            <a:ext cx="402336" cy="4023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8C0D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1173968" y="2761488"/>
            <a:ext cx="146304" cy="146304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35" name="Text 29"/>
          <p:cNvSpPr/>
          <p:nvPr/>
        </p:nvSpPr>
        <p:spPr>
          <a:xfrm>
            <a:off x="102870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0287000" y="23042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Rollout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10264140" y="3246120"/>
            <a:ext cx="1965960" cy="2331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10401300" y="33832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per-model configs to additional camera-module variants across lines</a:t>
            </a:r>
            <a:endParaRPr lang="en-US" sz="1080" dirty="0"/>
          </a:p>
        </p:txBody>
      </p:sp>
      <p:sp>
        <p:nvSpPr>
          <p:cNvPr id="39" name="Shape 33"/>
          <p:cNvSpPr/>
          <p:nvPr/>
        </p:nvSpPr>
        <p:spPr>
          <a:xfrm>
            <a:off x="914400" y="598932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4"/>
          <p:cNvSpPr/>
          <p:nvPr/>
        </p:nvSpPr>
        <p:spPr>
          <a:xfrm>
            <a:off x="1143000" y="5916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423160" y="5989320"/>
            <a:ext cx="164592" cy="164592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42" name="Text 36"/>
          <p:cNvSpPr/>
          <p:nvPr/>
        </p:nvSpPr>
        <p:spPr>
          <a:xfrm>
            <a:off x="2651760" y="5916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114800" y="5989320"/>
            <a:ext cx="164592" cy="164592"/>
          </a:xfrm>
          <a:prstGeom prst="ellipse">
            <a:avLst/>
          </a:prstGeom>
          <a:solidFill>
            <a:srgbClr val="B8C0DA"/>
          </a:solidFill>
          <a:ln/>
        </p:spPr>
      </p:sp>
      <p:sp>
        <p:nvSpPr>
          <p:cNvPr id="44" name="Text 38"/>
          <p:cNvSpPr/>
          <p:nvPr/>
        </p:nvSpPr>
        <p:spPr>
          <a:xfrm>
            <a:off x="4343400" y="5916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8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0160" y="1645920"/>
            <a:ext cx="9601200" cy="4480560"/>
          </a:xfrm>
          <a:prstGeom prst="roundRect">
            <a:avLst>
              <a:gd name="adj" fmla="val 1633"/>
            </a:avLst>
          </a:prstGeom>
          <a:solidFill>
            <a:srgbClr val="0E1533"/>
          </a:solidFill>
          <a:ln w="19050">
            <a:solidFill>
              <a:srgbClr val="3A4A8A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3383280"/>
            <a:ext cx="1371600" cy="137160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1" descr="icon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3730752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demo video here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(dust_inspector_final — live detection, ROI selection &amp; OK/NG verdict flow)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9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Learnings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7" name="Image 1" descr="icon_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9047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5389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is a trade-off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7240" y="2103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vs. false positives had to be balanced by hand across threshold, window size, and shape gates — no single setting worked for every module type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1" name="Image 2" descr="icon_do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9047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145389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artifacts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492240" y="21031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ring/donut patterns and AR-coating reflections mimic real contamination and needed dedicated shape/circularity gates to filter out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2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5" name="Image 3" descr="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5935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9227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shipped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77240" y="45720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formula went through multiple regressions before arriving at the current externally-validated Z-score approach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17920" y="3703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pic>
        <p:nvPicPr>
          <p:cNvPr id="19" name="Image 4" descr="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5935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0" y="392277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operator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6492240" y="45720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configs, an OK/NG override, and an offline Open-Image mode were built in from real line-usage needs, not as afterthoughts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1248"/>
            <a:ext cx="1216152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2743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782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dirty="0">
                <a:solidFill>
                  <a:srgbClr val="142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SIEL </a:t>
            </a:r>
            <a:pPr algn="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</a:t>
            </a:r>
            <a:pPr algn="r" indent="0" marL="0">
              <a:buNone/>
            </a:pPr>
            <a:r>
              <a:rPr lang="en-US" sz="1500" i="1" dirty="0">
                <a:solidFill>
                  <a:srgbClr val="EF6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pPr algn="r"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1" descr="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377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window sizing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or blend multiple window sizes so larger dust particles are caught without hand-tuning the slider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322326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333756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044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15" name="Text 11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2" descr="icon_microsco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3774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false positives further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2044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gating for AR-coating reflections and lens ring artifacts beyond current shape filters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05790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617220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22" name="Text 17"/>
          <p:cNvSpPr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3" name="Image 3" descr="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237744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08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deployment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5508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validated desktop tool towards integration into the live inspection line workflow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8892540" y="3474720"/>
            <a:ext cx="228600" cy="0"/>
          </a:xfrm>
          <a:prstGeom prst="line">
            <a:avLst/>
          </a:prstGeom>
          <a:noFill/>
          <a:ln w="19050">
            <a:solidFill>
              <a:srgbClr val="AEB6D0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9006840" y="13716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8972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</p:spPr>
      </p:sp>
      <p:sp>
        <p:nvSpPr>
          <p:cNvPr id="29" name="Text 23"/>
          <p:cNvSpPr/>
          <p:nvPr/>
        </p:nvSpPr>
        <p:spPr>
          <a:xfrm>
            <a:off x="9189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30" name="Image 4" descr="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237744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89720" y="32004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model coverage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189720" y="388620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per-model ROI/calibration configs to additional camera-module variants as they come online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11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114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</a:rPr>
              <a:t>Automated Camera-Module Defect Inspection — Samsung SIEL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3886200"/>
            <a:ext cx="27432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Technological University  •  Samsung India Electronics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2026-07-27T05:32:05Z</dcterms:created>
  <dcterms:modified xsi:type="dcterms:W3CDTF">2026-07-27T05:32:05Z</dcterms:modified>
</cp:coreProperties>
</file>